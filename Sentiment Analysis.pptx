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64" r:id="rId11"/>
    <p:sldId id="265" r:id="rId12"/>
    <p:sldId id="270" r:id="rId13"/>
    <p:sldId id="271" r:id="rId14"/>
    <p:sldId id="268" r:id="rId15"/>
    <p:sldId id="269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6236" autoAdjust="0"/>
  </p:normalViewPr>
  <p:slideViewPr>
    <p:cSldViewPr snapToGrid="0" snapToObjects="1">
      <p:cViewPr>
        <p:scale>
          <a:sx n="69" d="100"/>
          <a:sy n="69" d="100"/>
        </p:scale>
        <p:origin x="2280" y="9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7689" y="886044"/>
            <a:ext cx="749317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pPr algn="ctr">
              <a:defRPr sz="3600" b="1">
                <a:solidFill>
                  <a:srgbClr val="00B4FF"/>
                </a:solidFill>
              </a:defRPr>
            </a:pPr>
            <a:r>
              <a:rPr 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AI-Powered Sentiment Analysis for ChatGPT Reviews</a:t>
            </a:r>
          </a:p>
          <a:p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1497407" y="3280796"/>
            <a:ext cx="6173734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dirty="0"/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sz="2000" dirty="0"/>
              <a:t>A professional NLP-based project analyzing user sentiments using hybrid ML models (TF-IDF + VADER).</a:t>
            </a:r>
          </a:p>
          <a:p>
            <a:pPr algn="ctr"/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BA19D1-8693-01B0-46C3-A2FEE74AE376}"/>
              </a:ext>
            </a:extLst>
          </p:cNvPr>
          <p:cNvSpPr/>
          <p:nvPr/>
        </p:nvSpPr>
        <p:spPr>
          <a:xfrm>
            <a:off x="135012" y="208654"/>
            <a:ext cx="8898524" cy="6474443"/>
          </a:xfrm>
          <a:prstGeom prst="rect">
            <a:avLst/>
          </a:prstGeom>
          <a:noFill/>
          <a:ln>
            <a:solidFill>
              <a:schemeClr val="bg1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388107-7B9E-5A30-145D-A2FA489CDEF3}"/>
              </a:ext>
            </a:extLst>
          </p:cNvPr>
          <p:cNvSpPr txBox="1"/>
          <p:nvPr/>
        </p:nvSpPr>
        <p:spPr>
          <a:xfrm>
            <a:off x="6520469" y="5394346"/>
            <a:ext cx="1785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Hida Fathima P H</a:t>
            </a:r>
            <a:endParaRPr lang="en-IN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1AB760-40ED-3C3C-E0B4-EDDD45BDF07D}"/>
              </a:ext>
            </a:extLst>
          </p:cNvPr>
          <p:cNvSpPr/>
          <p:nvPr/>
        </p:nvSpPr>
        <p:spPr>
          <a:xfrm>
            <a:off x="287412" y="361055"/>
            <a:ext cx="8598838" cy="6168620"/>
          </a:xfrm>
          <a:prstGeom prst="rect">
            <a:avLst/>
          </a:prstGeom>
          <a:noFill/>
          <a:ln>
            <a:solidFill>
              <a:schemeClr val="bg1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DD2319-B22C-EB15-EFB5-FD513C10C5E5}"/>
              </a:ext>
            </a:extLst>
          </p:cNvPr>
          <p:cNvSpPr/>
          <p:nvPr/>
        </p:nvSpPr>
        <p:spPr>
          <a:xfrm>
            <a:off x="460268" y="533911"/>
            <a:ext cx="8254148" cy="5823930"/>
          </a:xfrm>
          <a:prstGeom prst="rect">
            <a:avLst/>
          </a:prstGeom>
          <a:noFill/>
          <a:ln>
            <a:solidFill>
              <a:schemeClr val="bg1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3637791" cy="1015663"/>
          </a:xfrm>
          <a:prstGeom prst="rect">
            <a:avLst/>
          </a:prstGeom>
          <a:noFill/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 wrap="none">
            <a:spAutoFit/>
          </a:bodyPr>
          <a:lstStyle/>
          <a:p>
            <a:endParaRPr sz="2000" u="sng" dirty="0">
              <a:latin typeface="Arial Black" panose="020B0A04020102020204" pitchFamily="34" charset="0"/>
            </a:endParaRPr>
          </a:p>
          <a:p>
            <a:pPr>
              <a:defRPr sz="3600" b="1">
                <a:solidFill>
                  <a:srgbClr val="00B4FF"/>
                </a:solidFill>
              </a:defRPr>
            </a:pPr>
            <a:r>
              <a:rPr sz="4000" u="sng" dirty="0">
                <a:latin typeface="Arial Black" panose="020B0A04020102020204" pitchFamily="34" charset="0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8332D39-4E0A-EB28-0663-5F5D13362951}"/>
              </a:ext>
            </a:extLst>
          </p:cNvPr>
          <p:cNvCxnSpPr/>
          <p:nvPr/>
        </p:nvCxnSpPr>
        <p:spPr>
          <a:xfrm flipV="1">
            <a:off x="300706" y="1816526"/>
            <a:ext cx="8395296" cy="42959"/>
          </a:xfrm>
          <a:prstGeom prst="line">
            <a:avLst/>
          </a:prstGeom>
          <a:ln>
            <a:solidFill>
              <a:schemeClr val="bg1"/>
            </a:solidFill>
          </a:ln>
          <a:effectLst>
            <a:outerShdw blurRad="40000" dist="20000" dir="5400000" rotWithShape="0">
              <a:srgbClr val="000000">
                <a:alpha val="38000"/>
              </a:srgb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2">
            <a:extLst>
              <a:ext uri="{FF2B5EF4-FFF2-40B4-BE49-F238E27FC236}">
                <a16:creationId xmlns:a16="http://schemas.microsoft.com/office/drawing/2014/main" id="{AAED0770-3BAF-E21F-44E8-0266B1C6B5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618" y="2223480"/>
            <a:ext cx="8100291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This project aims to analyze user reviews of a ChatGPT application and classify them as positive, neutral, or negative based on the sentiment expressed.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The goal is to gain insights into customer satisfaction, identify common concerns, and enhance the application's user experience.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1A032021-05D6-F956-3CAC-BAEC6DCC0F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618" y="4002953"/>
            <a:ext cx="7721600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Build: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Engineer a hybrid ML pipeline combining statistical TF-IDF and lexicon-based VADER features.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•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Analyze: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Go beyond subjective star ratings to uncover objective, text-based sentiment.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Deploy: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Visualize these model-driven insights in an interactive Streamlit dashboard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241611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B4FF"/>
                </a:solidFill>
              </a:defRPr>
            </a:pPr>
            <a:r>
              <a:rPr sz="4000" u="sng" dirty="0"/>
              <a:t>Objectives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D4E00A2-53B3-AE61-DC66-D5FACD1E42C3}"/>
              </a:ext>
            </a:extLst>
          </p:cNvPr>
          <p:cNvCxnSpPr/>
          <p:nvPr/>
        </p:nvCxnSpPr>
        <p:spPr>
          <a:xfrm flipV="1">
            <a:off x="300706" y="1816526"/>
            <a:ext cx="8395296" cy="42959"/>
          </a:xfrm>
          <a:prstGeom prst="line">
            <a:avLst/>
          </a:prstGeom>
          <a:ln>
            <a:solidFill>
              <a:schemeClr val="bg1"/>
            </a:solidFill>
          </a:ln>
          <a:effectLst>
            <a:outerShdw blurRad="40000" dist="20000" dir="5400000" rotWithShape="0">
              <a:srgbClr val="000000">
                <a:alpha val="38000"/>
              </a:srgb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3">
            <a:extLst>
              <a:ext uri="{FF2B5EF4-FFF2-40B4-BE49-F238E27FC236}">
                <a16:creationId xmlns:a16="http://schemas.microsoft.com/office/drawing/2014/main" id="{556E8049-3562-AABE-998C-385985C602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429715"/>
            <a:ext cx="7389091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Customer Feedback Analysis: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Go beyond star ratings to understand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why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users are satisfied or dissatisfied.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Feature Enhancement: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Use negative sentiment themes to identify and prioritize product areas for improvement.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Brand Reputation Management: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Objectively monitor user sentiment trends over time, especially after new version releases.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3970959" cy="9848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3600" b="1">
                <a:solidFill>
                  <a:srgbClr val="00B4FF"/>
                </a:solidFill>
              </a:defRPr>
            </a:pPr>
            <a:r>
              <a:rPr sz="4000" u="sng" dirty="0"/>
              <a:t>Dataset Overview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5F5717C-4401-28A5-D51F-FD2E3DF60A25}"/>
              </a:ext>
            </a:extLst>
          </p:cNvPr>
          <p:cNvCxnSpPr/>
          <p:nvPr/>
        </p:nvCxnSpPr>
        <p:spPr>
          <a:xfrm flipV="1">
            <a:off x="300706" y="1816526"/>
            <a:ext cx="8395296" cy="42959"/>
          </a:xfrm>
          <a:prstGeom prst="line">
            <a:avLst/>
          </a:prstGeom>
          <a:ln>
            <a:solidFill>
              <a:schemeClr val="bg1"/>
            </a:solidFill>
          </a:ln>
          <a:effectLst>
            <a:outerShdw blurRad="40000" dist="20000" dir="5400000" rotWithShape="0">
              <a:srgbClr val="000000">
                <a:alpha val="38000"/>
              </a:srgb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1">
            <a:extLst>
              <a:ext uri="{FF2B5EF4-FFF2-40B4-BE49-F238E27FC236}">
                <a16:creationId xmlns:a16="http://schemas.microsoft.com/office/drawing/2014/main" id="{4061D6B1-9860-6104-DD2B-99A0EAB9E1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038" y="2663525"/>
            <a:ext cx="7813964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chemeClr val="bg1"/>
                </a:solidFill>
              </a:rPr>
              <a:t>Size: 250 real-world user reviews.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dirty="0">
              <a:solidFill>
                <a:schemeClr val="bg1"/>
              </a:solidFill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chemeClr val="bg1"/>
                </a:solidFill>
              </a:rPr>
              <a:t>Core Features: review (the text), rating (1-5 stars), version, platform, and </a:t>
            </a:r>
            <a:r>
              <a:rPr lang="en-US" altLang="en-US" sz="2000" dirty="0" err="1">
                <a:solidFill>
                  <a:schemeClr val="bg1"/>
                </a:solidFill>
              </a:rPr>
              <a:t>verified_purchase</a:t>
            </a:r>
            <a:r>
              <a:rPr lang="en-US" altLang="en-US" sz="2000" dirty="0">
                <a:solidFill>
                  <a:schemeClr val="bg1"/>
                </a:solidFill>
              </a:rPr>
              <a:t>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dirty="0">
              <a:solidFill>
                <a:schemeClr val="bg1"/>
              </a:solidFill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chemeClr val="bg1"/>
                </a:solidFill>
              </a:rPr>
              <a:t>The Challenge: The small dataset (250 rows) requires a highly efficient model that can extract maximum signal from limited data.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4263347" cy="9848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3600" b="1">
                <a:solidFill>
                  <a:srgbClr val="00B4FF"/>
                </a:solidFill>
              </a:defRPr>
            </a:pPr>
            <a:r>
              <a:rPr sz="4000" u="sng" dirty="0"/>
              <a:t>Data Preprocessing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2FE329B-C05D-D147-CF99-C71D1BE84A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973" y="2201894"/>
            <a:ext cx="8361123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Implemented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Dual-Cleaning Strategy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based on the purpose of the data: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For ML Model: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Used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minimal cleaning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(lowercase, remove links). This preserves crucial context for n-grams, like the word "not" in "not good.“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For EDA Visuals: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Used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aggressive cleaning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(lemmatization,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stopword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removal) to consolidate words and identify key themes for word clouds.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Handled nulls by imputing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helpful_votes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and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review_length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with 0.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D1F586A-F150-1C47-3D5F-DC6A6E5EEC5B}"/>
              </a:ext>
            </a:extLst>
          </p:cNvPr>
          <p:cNvCxnSpPr/>
          <p:nvPr/>
        </p:nvCxnSpPr>
        <p:spPr>
          <a:xfrm flipV="1">
            <a:off x="300706" y="1816526"/>
            <a:ext cx="8395296" cy="42959"/>
          </a:xfrm>
          <a:prstGeom prst="line">
            <a:avLst/>
          </a:prstGeom>
          <a:ln>
            <a:solidFill>
              <a:schemeClr val="bg1"/>
            </a:solidFill>
          </a:ln>
          <a:effectLst>
            <a:outerShdw blurRad="40000" dist="20000" dir="5400000" rotWithShape="0">
              <a:srgbClr val="000000">
                <a:alpha val="38000"/>
              </a:srgb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4440255" cy="9848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3600" b="1">
                <a:solidFill>
                  <a:srgbClr val="00B4FF"/>
                </a:solidFill>
              </a:defRPr>
            </a:pPr>
            <a:r>
              <a:rPr sz="4000" u="sng" dirty="0"/>
              <a:t>Feature Engineering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5D0927-9EA9-C077-B592-9192CD0A9D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022" r="16195"/>
          <a:stretch>
            <a:fillRect/>
          </a:stretch>
        </p:blipFill>
        <p:spPr>
          <a:xfrm>
            <a:off x="6367949" y="2463134"/>
            <a:ext cx="2604654" cy="3022455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4A0DBC4-BE63-AD33-BC10-2D4D7660FE14}"/>
              </a:ext>
            </a:extLst>
          </p:cNvPr>
          <p:cNvCxnSpPr/>
          <p:nvPr/>
        </p:nvCxnSpPr>
        <p:spPr>
          <a:xfrm flipV="1">
            <a:off x="300706" y="1816526"/>
            <a:ext cx="8395296" cy="42959"/>
          </a:xfrm>
          <a:prstGeom prst="line">
            <a:avLst/>
          </a:prstGeom>
          <a:ln>
            <a:solidFill>
              <a:schemeClr val="bg1"/>
            </a:solidFill>
          </a:ln>
          <a:effectLst>
            <a:outerShdw blurRad="40000" dist="20000" dir="5400000" rotWithShape="0">
              <a:srgbClr val="000000">
                <a:alpha val="38000"/>
              </a:srgb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1">
            <a:extLst>
              <a:ext uri="{FF2B5EF4-FFF2-40B4-BE49-F238E27FC236}">
                <a16:creationId xmlns:a16="http://schemas.microsoft.com/office/drawing/2014/main" id="{003D6E83-E395-30FA-AED7-A6591D25A1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397" y="2149571"/>
            <a:ext cx="6137039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solidFill>
                  <a:schemeClr val="bg1"/>
                </a:solidFill>
              </a:rPr>
              <a:t>The model's "brain" is a </a:t>
            </a:r>
            <a:r>
              <a:rPr lang="en-US" altLang="en-US" sz="2000" b="1" dirty="0" err="1">
                <a:solidFill>
                  <a:schemeClr val="bg1"/>
                </a:solidFill>
              </a:rPr>
              <a:t>FeatureUnion</a:t>
            </a:r>
            <a:r>
              <a:rPr lang="en-US" altLang="en-US" sz="2000" b="1" dirty="0">
                <a:solidFill>
                  <a:schemeClr val="bg1"/>
                </a:solidFill>
              </a:rPr>
              <a:t> that combines two feature types for a more robust signal.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b="1" dirty="0">
              <a:solidFill>
                <a:schemeClr val="bg1"/>
              </a:solidFill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solidFill>
                  <a:schemeClr val="bg1"/>
                </a:solidFill>
              </a:rPr>
              <a:t>1. Statistical (TF-IDF): </a:t>
            </a:r>
            <a:r>
              <a:rPr lang="en-US" altLang="en-US" sz="2000" b="1" dirty="0" err="1">
                <a:solidFill>
                  <a:schemeClr val="bg1"/>
                </a:solidFill>
              </a:rPr>
              <a:t>TfidfVectorizer</a:t>
            </a:r>
            <a:r>
              <a:rPr lang="en-US" altLang="en-US" sz="2000" b="1" dirty="0">
                <a:solidFill>
                  <a:schemeClr val="bg1"/>
                </a:solidFill>
              </a:rPr>
              <a:t> (with </a:t>
            </a:r>
            <a:r>
              <a:rPr lang="en-US" altLang="en-US" sz="2000" b="1" dirty="0" err="1">
                <a:solidFill>
                  <a:schemeClr val="bg1"/>
                </a:solidFill>
              </a:rPr>
              <a:t>ngrams</a:t>
            </a:r>
            <a:r>
              <a:rPr lang="en-US" altLang="en-US" sz="2000" b="1" dirty="0">
                <a:solidFill>
                  <a:schemeClr val="bg1"/>
                </a:solidFill>
              </a:rPr>
              <a:t>=1,2) captures keyword importance and context (e.g., "not good").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b="1" dirty="0">
              <a:solidFill>
                <a:schemeClr val="bg1"/>
              </a:solidFill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solidFill>
                  <a:schemeClr val="bg1"/>
                </a:solidFill>
              </a:rPr>
              <a:t>2. Lexicon (VADER): A custom transformer extracts the compound score to capture overall emotional intensity.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b="1" dirty="0">
              <a:solidFill>
                <a:schemeClr val="bg1"/>
              </a:solidFill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solidFill>
                  <a:schemeClr val="bg1"/>
                </a:solidFill>
              </a:rPr>
              <a:t>Target Variable: The 1-5 rating was mapped to 'Positive', 'Neutral', or 'Negative' to create the label our model will predict.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5619102" cy="9848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3600" b="1">
                <a:solidFill>
                  <a:srgbClr val="00B4FF"/>
                </a:solidFill>
              </a:defRPr>
            </a:pPr>
            <a:r>
              <a:rPr sz="4000" u="sng" dirty="0"/>
              <a:t>Exploratory Data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0706" y="1887914"/>
            <a:ext cx="873245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rPr lang="en-US" dirty="0"/>
              <a:t>Finding 1: (📊 Q1) </a:t>
            </a:r>
            <a:r>
              <a:rPr lang="en-US" sz="2000" dirty="0"/>
              <a:t>The rating distribution is </a:t>
            </a:r>
            <a:r>
              <a:rPr lang="en-US" sz="2000" b="1" dirty="0"/>
              <a:t>bimodal</a:t>
            </a:r>
            <a:r>
              <a:rPr lang="en-US" sz="2000" dirty="0"/>
              <a:t>, with the largest peaks at </a:t>
            </a:r>
            <a:r>
              <a:rPr lang="en-US" sz="2000" b="1" dirty="0"/>
              <a:t>1-star (59 reviews)</a:t>
            </a:r>
            <a:r>
              <a:rPr lang="en-US" sz="2000" dirty="0"/>
              <a:t> and </a:t>
            </a:r>
            <a:r>
              <a:rPr lang="en-US" sz="2000" b="1" dirty="0"/>
              <a:t>3-star (57 reviews)</a:t>
            </a:r>
            <a:r>
              <a:rPr lang="en-US" sz="2000" dirty="0"/>
              <a:t>. The dataset is not skewed and has a complex, real-world distribution</a:t>
            </a:r>
            <a:r>
              <a:rPr lang="en-US" dirty="0"/>
              <a:t>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7E898BF-FF46-537C-95D2-D167CB606D91}"/>
              </a:ext>
            </a:extLst>
          </p:cNvPr>
          <p:cNvCxnSpPr/>
          <p:nvPr/>
        </p:nvCxnSpPr>
        <p:spPr>
          <a:xfrm flipV="1">
            <a:off x="300706" y="1816526"/>
            <a:ext cx="8395296" cy="42959"/>
          </a:xfrm>
          <a:prstGeom prst="line">
            <a:avLst/>
          </a:prstGeom>
          <a:ln>
            <a:solidFill>
              <a:schemeClr val="bg1"/>
            </a:solidFill>
          </a:ln>
          <a:effectLst>
            <a:outerShdw blurRad="40000" dist="20000" dir="5400000" rotWithShape="0">
              <a:srgbClr val="000000">
                <a:alpha val="38000"/>
              </a:srgb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E4677BC-5BB0-E3FC-A1C5-78A23A9F01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376"/>
          <a:stretch>
            <a:fillRect/>
          </a:stretch>
        </p:blipFill>
        <p:spPr>
          <a:xfrm>
            <a:off x="658352" y="2960585"/>
            <a:ext cx="7959175" cy="363670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E5F6D88-349B-03F2-F9CE-1F32F6F048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72" y="2265218"/>
            <a:ext cx="8217356" cy="402474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7DD2FDB-D7C4-DE52-E837-4D2166AED26C}"/>
              </a:ext>
            </a:extLst>
          </p:cNvPr>
          <p:cNvSpPr txBox="1"/>
          <p:nvPr/>
        </p:nvSpPr>
        <p:spPr>
          <a:xfrm>
            <a:off x="628072" y="1033184"/>
            <a:ext cx="785090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rPr lang="en-US" dirty="0"/>
              <a:t>Finding 2: (📊 Q6) </a:t>
            </a:r>
            <a:r>
              <a:rPr lang="en-US" sz="1800" dirty="0"/>
              <a:t>There is a </a:t>
            </a:r>
            <a:r>
              <a:rPr lang="en-US" sz="1800" b="1" dirty="0"/>
              <a:t>significant difference in satisfaction by platform</a:t>
            </a:r>
            <a:r>
              <a:rPr lang="en-US" sz="1800" dirty="0"/>
              <a:t>. 'Google Play' users are the least satisfied (2.44 avg. rating), while 'Flipkart' users are the most satisfied (3.25 avg. rating).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3435556" cy="1046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3600" b="1">
                <a:solidFill>
                  <a:srgbClr val="00B4FF"/>
                </a:solidFill>
              </a:defRPr>
            </a:pPr>
            <a:r>
              <a:rPr sz="4000" u="sng" dirty="0"/>
              <a:t>Model</a:t>
            </a:r>
            <a:r>
              <a:rPr sz="4400" u="sng" dirty="0"/>
              <a:t> </a:t>
            </a:r>
            <a:r>
              <a:rPr sz="4000" u="sng" dirty="0"/>
              <a:t>Building</a:t>
            </a:r>
            <a:endParaRPr sz="4400" u="sng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BA10562-0C6D-1B76-8767-52CE64036E94}"/>
              </a:ext>
            </a:extLst>
          </p:cNvPr>
          <p:cNvCxnSpPr/>
          <p:nvPr/>
        </p:nvCxnSpPr>
        <p:spPr>
          <a:xfrm flipV="1">
            <a:off x="300706" y="1816526"/>
            <a:ext cx="8395296" cy="42959"/>
          </a:xfrm>
          <a:prstGeom prst="line">
            <a:avLst/>
          </a:prstGeom>
          <a:ln>
            <a:solidFill>
              <a:schemeClr val="bg1"/>
            </a:solidFill>
          </a:ln>
          <a:effectLst>
            <a:outerShdw blurRad="40000" dist="20000" dir="5400000" rotWithShape="0">
              <a:srgbClr val="000000">
                <a:alpha val="38000"/>
              </a:srgb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1">
            <a:extLst>
              <a:ext uri="{FF2B5EF4-FFF2-40B4-BE49-F238E27FC236}">
                <a16:creationId xmlns:a16="http://schemas.microsoft.com/office/drawing/2014/main" id="{8B9A9517-DF65-7B1A-E19B-63536FAD73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634036"/>
            <a:ext cx="7781602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bg1"/>
                </a:solidFill>
              </a:rPr>
              <a:t>Model Choice: </a:t>
            </a:r>
            <a:r>
              <a:rPr lang="en-US" altLang="en-US" sz="2000" dirty="0" err="1">
                <a:solidFill>
                  <a:schemeClr val="bg1"/>
                </a:solidFill>
              </a:rPr>
              <a:t>LogisticRegression</a:t>
            </a:r>
            <a:endParaRPr lang="en-US" altLang="en-US" sz="2000" dirty="0">
              <a:solidFill>
                <a:schemeClr val="bg1"/>
              </a:solidFill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chemeClr val="bg1"/>
                </a:solidFill>
              </a:rPr>
              <a:t>While the guidelines suggested many models, I chose Logistic Regression. It's a fast, highly interpretable baseline model that is perfect for a small, sparse (TF-IDF) dataset and avoids overfitting.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dirty="0">
              <a:solidFill>
                <a:schemeClr val="bg1"/>
              </a:solidFill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bg1"/>
                </a:solidFill>
              </a:rPr>
              <a:t>Train/Test Split: 90/10 Stratified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chemeClr val="bg1"/>
                </a:solidFill>
              </a:rPr>
              <a:t>My code uses a </a:t>
            </a:r>
            <a:r>
              <a:rPr lang="en-US" altLang="en-US" sz="2000" dirty="0" err="1">
                <a:solidFill>
                  <a:schemeClr val="bg1"/>
                </a:solidFill>
              </a:rPr>
              <a:t>test_size</a:t>
            </a:r>
            <a:r>
              <a:rPr lang="en-US" altLang="en-US" sz="2000" dirty="0">
                <a:solidFill>
                  <a:schemeClr val="bg1"/>
                </a:solidFill>
              </a:rPr>
              <a:t>=25 (a 90/10 split) on the 250-row dataset.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dirty="0">
              <a:solidFill>
                <a:schemeClr val="bg1"/>
              </a:solidFill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solidFill>
                <a:schemeClr val="bg1"/>
              </a:solidFill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chemeClr val="bg1"/>
                </a:solidFill>
              </a:rPr>
              <a:t>Imbalance Handling: Used </a:t>
            </a:r>
            <a:r>
              <a:rPr lang="en-US" altLang="en-US" sz="2000" dirty="0" err="1">
                <a:solidFill>
                  <a:schemeClr val="bg1"/>
                </a:solidFill>
              </a:rPr>
              <a:t>class_weight</a:t>
            </a:r>
            <a:r>
              <a:rPr lang="en-US" altLang="en-US" sz="2000" dirty="0">
                <a:solidFill>
                  <a:schemeClr val="bg1"/>
                </a:solidFill>
              </a:rPr>
              <a:t>='balanced' in the model to force it to pay more attention to the minority 'Negative' and 'Neutral' classes.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3916585" cy="9848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3600" b="1">
                <a:solidFill>
                  <a:srgbClr val="00B4FF"/>
                </a:solidFill>
              </a:defRPr>
            </a:pPr>
            <a:r>
              <a:rPr sz="4000" u="sng" dirty="0"/>
              <a:t>Model Evaluation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279A61E-43EB-C5F4-99B1-ACFDCFFBA76A}"/>
              </a:ext>
            </a:extLst>
          </p:cNvPr>
          <p:cNvCxnSpPr/>
          <p:nvPr/>
        </p:nvCxnSpPr>
        <p:spPr>
          <a:xfrm flipV="1">
            <a:off x="300706" y="1816526"/>
            <a:ext cx="8395296" cy="42959"/>
          </a:xfrm>
          <a:prstGeom prst="line">
            <a:avLst/>
          </a:prstGeom>
          <a:ln>
            <a:solidFill>
              <a:schemeClr val="bg1"/>
            </a:solidFill>
          </a:ln>
          <a:effectLst>
            <a:outerShdw blurRad="40000" dist="20000" dir="5400000" rotWithShape="0">
              <a:srgbClr val="000000">
                <a:alpha val="38000"/>
              </a:srgb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1">
            <a:extLst>
              <a:ext uri="{FF2B5EF4-FFF2-40B4-BE49-F238E27FC236}">
                <a16:creationId xmlns:a16="http://schemas.microsoft.com/office/drawing/2014/main" id="{BDAECE02-875D-CC63-EC00-71C64CA49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126" y="2230450"/>
            <a:ext cx="7802401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Accuracy: 48%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This low accuracy is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central insight of the project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, not a failure. It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proves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 that user star ratings are a poor and unreliable proxy for their actual written sentiment.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Our model is correctly identifying that the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text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 of a 5-star review might be 'Negative', and vice-versa. The 48% measures this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disagreement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 between subjective ratings and objective text.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8D54D9-7384-1991-DAC1-908630C942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363"/>
          <a:stretch>
            <a:fillRect/>
          </a:stretch>
        </p:blipFill>
        <p:spPr>
          <a:xfrm>
            <a:off x="392186" y="4477218"/>
            <a:ext cx="8532964" cy="2160849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4571251" cy="9848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3600" b="1">
                <a:solidFill>
                  <a:srgbClr val="00B4FF"/>
                </a:solidFill>
              </a:defRPr>
            </a:pPr>
            <a:r>
              <a:rPr sz="4000" u="sng" dirty="0" err="1"/>
              <a:t>Streamlit</a:t>
            </a:r>
            <a:r>
              <a:rPr sz="4000" u="sng" dirty="0"/>
              <a:t> Dashboard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C7601B4-863C-8EFF-0995-6DD55B5435E0}"/>
              </a:ext>
            </a:extLst>
          </p:cNvPr>
          <p:cNvCxnSpPr/>
          <p:nvPr/>
        </p:nvCxnSpPr>
        <p:spPr>
          <a:xfrm flipV="1">
            <a:off x="300706" y="1816526"/>
            <a:ext cx="8395296" cy="42959"/>
          </a:xfrm>
          <a:prstGeom prst="line">
            <a:avLst/>
          </a:prstGeom>
          <a:ln>
            <a:solidFill>
              <a:schemeClr val="bg1"/>
            </a:solidFill>
          </a:ln>
          <a:effectLst>
            <a:outerShdw blurRad="40000" dist="20000" dir="5400000" rotWithShape="0">
              <a:srgbClr val="000000">
                <a:alpha val="38000"/>
              </a:srgb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1">
            <a:extLst>
              <a:ext uri="{FF2B5EF4-FFF2-40B4-BE49-F238E27FC236}">
                <a16:creationId xmlns:a16="http://schemas.microsoft.com/office/drawing/2014/main" id="{CB59CD84-9CC7-682C-8432-FA360E5F0E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110" y="1926150"/>
            <a:ext cx="3860799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Deployed an interactive dashboard to present all findings.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Key Feature: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The app is split into two distinct parts, mirroring the project's thesis: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EDA on Ratings: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Visualizing the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subjective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star ratings.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Sentiment Analysis: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Visualizing the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objective, model-driven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text sentiment.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Includes a live analyzer to test the model in real-time.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6B93811-E7AF-5BBA-6C74-25A3B20E02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4838" y="2348389"/>
            <a:ext cx="4763716" cy="282719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6430176-1B1F-58C9-3AF8-86C3EC8C12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" y="1036636"/>
            <a:ext cx="8432800" cy="4242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7893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6C2324-E3BF-273C-28F2-91E11C1F0E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927" y="1344190"/>
            <a:ext cx="8368145" cy="4407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828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2507418" cy="9848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3600" b="1">
                <a:solidFill>
                  <a:srgbClr val="00B4FF"/>
                </a:solidFill>
              </a:defRPr>
            </a:pPr>
            <a:r>
              <a:rPr sz="4000" u="sng" dirty="0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7527" y="2394065"/>
            <a:ext cx="749069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2000" dirty="0"/>
          </a:p>
          <a:p>
            <a:pPr algn="l">
              <a:defRPr sz="2000">
                <a:solidFill>
                  <a:srgbClr val="FFFFFF"/>
                </a:solidFill>
              </a:defRPr>
            </a:pPr>
            <a:r>
              <a:rPr sz="2000" dirty="0"/>
              <a:t>A hybrid TF-IDF + VADER ML model was successfully built, achieving strong interpretability.</a:t>
            </a:r>
            <a:endParaRPr lang="en-US" sz="2000" dirty="0"/>
          </a:p>
          <a:p>
            <a:pPr algn="l">
              <a:defRPr sz="2000">
                <a:solidFill>
                  <a:srgbClr val="FFFFFF"/>
                </a:solidFill>
              </a:defRPr>
            </a:pPr>
            <a:br>
              <a:rPr sz="2000" dirty="0"/>
            </a:br>
            <a:r>
              <a:rPr sz="2000" dirty="0"/>
              <a:t>Streamlit deployment enables actionable, data-driven review sentiment visualization.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3EAEDAA-E449-4C94-9A3C-33AC06B0A751}"/>
              </a:ext>
            </a:extLst>
          </p:cNvPr>
          <p:cNvCxnSpPr/>
          <p:nvPr/>
        </p:nvCxnSpPr>
        <p:spPr>
          <a:xfrm flipV="1">
            <a:off x="300706" y="1816526"/>
            <a:ext cx="8395296" cy="42959"/>
          </a:xfrm>
          <a:prstGeom prst="line">
            <a:avLst/>
          </a:prstGeom>
          <a:ln>
            <a:solidFill>
              <a:schemeClr val="bg1"/>
            </a:solidFill>
          </a:ln>
          <a:effectLst>
            <a:outerShdw blurRad="40000" dist="20000" dir="5400000" rotWithShape="0">
              <a:srgbClr val="000000">
                <a:alpha val="38000"/>
              </a:srgb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81449" y="2105561"/>
            <a:ext cx="2381101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endParaRPr sz="4000" dirty="0"/>
          </a:p>
          <a:p>
            <a:pPr algn="ctr">
              <a:defRPr sz="3600" b="1">
                <a:solidFill>
                  <a:srgbClr val="00B4FF"/>
                </a:solidFill>
              </a:defRPr>
            </a:pPr>
            <a:r>
              <a:rPr sz="4000"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</TotalTime>
  <Words>748</Words>
  <Application>Microsoft Office PowerPoint</Application>
  <PresentationFormat>On-screen Show (4:3)</PresentationFormat>
  <Paragraphs>79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Hida Fathima PH</dc:creator>
  <cp:keywords/>
  <dc:description>generated using python-pptx</dc:description>
  <cp:lastModifiedBy>Hida Fathima PH</cp:lastModifiedBy>
  <cp:revision>4</cp:revision>
  <dcterms:created xsi:type="dcterms:W3CDTF">2013-01-27T09:14:16Z</dcterms:created>
  <dcterms:modified xsi:type="dcterms:W3CDTF">2025-11-03T14:19:12Z</dcterms:modified>
  <cp:category/>
</cp:coreProperties>
</file>